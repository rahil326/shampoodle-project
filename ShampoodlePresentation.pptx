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73" r:id="rId3"/>
    <p:sldId id="274" r:id="rId4"/>
    <p:sldId id="271"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11/30/2025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16569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11/30/2025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5501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11/30/2025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96723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11/30/2025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56051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11/30/2025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49406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11/30/2025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07809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11/30/2025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7526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11/30/2025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2317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11/30/2025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7284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11/30/2025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511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11/30/2025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29023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11/30/2025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90069526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rahil326.github.io/shampoodle-projec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E764C4B0-891A-2FDB-2204-473BE6B3E319}"/>
              </a:ext>
            </a:extLst>
          </p:cNvPr>
          <p:cNvPicPr>
            <a:picLocks noChangeAspect="1"/>
          </p:cNvPicPr>
          <p:nvPr/>
        </p:nvPicPr>
        <p:blipFill>
          <a:blip r:embed="rId2"/>
          <a:srcRect l="2292" r="8820"/>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0CCA9273-E74E-A306-1F74-BEF9EDA30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60000">
                <a:schemeClr val="bg1">
                  <a:alpha val="3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C031102-DE63-44B3-E071-ADC48AD52D17}"/>
              </a:ext>
            </a:extLst>
          </p:cNvPr>
          <p:cNvSpPr>
            <a:spLocks noGrp="1"/>
          </p:cNvSpPr>
          <p:nvPr>
            <p:ph type="ctrTitle"/>
          </p:nvPr>
        </p:nvSpPr>
        <p:spPr>
          <a:xfrm>
            <a:off x="320039" y="255830"/>
            <a:ext cx="9246748" cy="3608247"/>
          </a:xfrm>
        </p:spPr>
        <p:txBody>
          <a:bodyPr anchor="t">
            <a:normAutofit/>
          </a:bodyPr>
          <a:lstStyle/>
          <a:p>
            <a:pPr algn="l"/>
            <a:r>
              <a:rPr lang="fr-FR" sz="4400" dirty="0"/>
              <a:t>Access vs Salesforce: </a:t>
            </a:r>
            <a:r>
              <a:rPr lang="fr-FR" sz="4400" dirty="0" err="1"/>
              <a:t>Database</a:t>
            </a:r>
            <a:r>
              <a:rPr lang="fr-FR" sz="4400" dirty="0"/>
              <a:t> Solutions</a:t>
            </a:r>
            <a:endParaRPr lang="en-US" sz="4400" dirty="0"/>
          </a:p>
        </p:txBody>
      </p:sp>
      <p:graphicFrame>
        <p:nvGraphicFramePr>
          <p:cNvPr id="5" name="Table 4">
            <a:extLst>
              <a:ext uri="{FF2B5EF4-FFF2-40B4-BE49-F238E27FC236}">
                <a16:creationId xmlns:a16="http://schemas.microsoft.com/office/drawing/2014/main" id="{36A34BF9-94FB-CD54-AD5D-A62520E3F7D1}"/>
              </a:ext>
            </a:extLst>
          </p:cNvPr>
          <p:cNvGraphicFramePr>
            <a:graphicFrameLocks noGrp="1"/>
          </p:cNvGraphicFramePr>
          <p:nvPr>
            <p:extLst>
              <p:ext uri="{D42A27DB-BD31-4B8C-83A1-F6EECF244321}">
                <p14:modId xmlns:p14="http://schemas.microsoft.com/office/powerpoint/2010/main" val="1166289500"/>
              </p:ext>
            </p:extLst>
          </p:nvPr>
        </p:nvGraphicFramePr>
        <p:xfrm>
          <a:off x="1120877" y="4257367"/>
          <a:ext cx="5968181" cy="1946787"/>
        </p:xfrm>
        <a:graphic>
          <a:graphicData uri="http://schemas.openxmlformats.org/drawingml/2006/table">
            <a:tbl>
              <a:tblPr/>
              <a:tblGrid>
                <a:gridCol w="5968181">
                  <a:extLst>
                    <a:ext uri="{9D8B030D-6E8A-4147-A177-3AD203B41FA5}">
                      <a16:colId xmlns:a16="http://schemas.microsoft.com/office/drawing/2014/main" val="1029062137"/>
                    </a:ext>
                  </a:extLst>
                </a:gridCol>
              </a:tblGrid>
              <a:tr h="1946787">
                <a:tc>
                  <a:txBody>
                    <a:bodyPr/>
                    <a:lstStyle/>
                    <a:p>
                      <a:r>
                        <a:rPr lang="en-US" dirty="0"/>
                        <a:t>Prepared By:</a:t>
                      </a:r>
                    </a:p>
                    <a:p>
                      <a:endParaRPr lang="en-US" dirty="0"/>
                    </a:p>
                    <a:p>
                      <a:r>
                        <a:rPr lang="en-US" dirty="0"/>
                        <a:t>       SEVEN SOLUTIONS: RAHEEL AHSAN</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7780521"/>
                  </a:ext>
                </a:extLst>
              </a:tr>
            </a:tbl>
          </a:graphicData>
        </a:graphic>
      </p:graphicFrame>
    </p:spTree>
    <p:extLst>
      <p:ext uri="{BB962C8B-B14F-4D97-AF65-F5344CB8AC3E}">
        <p14:creationId xmlns:p14="http://schemas.microsoft.com/office/powerpoint/2010/main" val="293209732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A8ADF-5988-0D7C-7106-67FAF7E4F3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64C7C5-1148-F79A-4C70-CB847699DE8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23853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web page&#10;&#10;AI-generated content may be incorrect.">
            <a:extLst>
              <a:ext uri="{FF2B5EF4-FFF2-40B4-BE49-F238E27FC236}">
                <a16:creationId xmlns:a16="http://schemas.microsoft.com/office/drawing/2014/main" id="{91F15B13-2DE8-AB59-9E82-75C8C38EA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577" y="394536"/>
            <a:ext cx="9274710" cy="6463464"/>
          </a:xfrm>
          <a:prstGeom prst="rect">
            <a:avLst/>
          </a:prstGeom>
        </p:spPr>
      </p:pic>
    </p:spTree>
    <p:extLst>
      <p:ext uri="{BB962C8B-B14F-4D97-AF65-F5344CB8AC3E}">
        <p14:creationId xmlns:p14="http://schemas.microsoft.com/office/powerpoint/2010/main" val="1283529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4209-34CE-865B-7CBD-00F28A4ADDA7}"/>
              </a:ext>
            </a:extLst>
          </p:cNvPr>
          <p:cNvSpPr>
            <a:spLocks noGrp="1"/>
          </p:cNvSpPr>
          <p:nvPr>
            <p:ph type="title"/>
          </p:nvPr>
        </p:nvSpPr>
        <p:spPr>
          <a:xfrm>
            <a:off x="622998" y="548640"/>
            <a:ext cx="10643228" cy="426050"/>
          </a:xfrm>
        </p:spPr>
        <p:txBody>
          <a:bodyPr>
            <a:normAutofit fontScale="90000"/>
          </a:bodyPr>
          <a:lstStyle/>
          <a:p>
            <a:r>
              <a:rPr lang="en-US" sz="1600" dirty="0"/>
              <a:t>FINAL COVER PAGE _TEAM INFORMATION DATABASE- https://rahil326.github.io/shampoodle-project/</a:t>
            </a:r>
            <a:br>
              <a:rPr lang="en-US" sz="1600" dirty="0"/>
            </a:br>
            <a:endParaRPr lang="en-US" sz="1600" dirty="0"/>
          </a:p>
        </p:txBody>
      </p:sp>
      <p:pic>
        <p:nvPicPr>
          <p:cNvPr id="5" name="Content Placeholder 4" descr="A screenshot of a computer&#10;&#10;AI-generated content may be incorrect.">
            <a:extLst>
              <a:ext uri="{FF2B5EF4-FFF2-40B4-BE49-F238E27FC236}">
                <a16:creationId xmlns:a16="http://schemas.microsoft.com/office/drawing/2014/main" id="{58DD9FA6-8924-3980-0E6B-D811A58C88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849" y="1125415"/>
            <a:ext cx="10992015" cy="5530683"/>
          </a:xfrm>
        </p:spPr>
      </p:pic>
    </p:spTree>
    <p:extLst>
      <p:ext uri="{BB962C8B-B14F-4D97-AF65-F5344CB8AC3E}">
        <p14:creationId xmlns:p14="http://schemas.microsoft.com/office/powerpoint/2010/main" val="1645885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19C30-5CD6-93F1-2F99-CF9A877F32F2}"/>
              </a:ext>
            </a:extLst>
          </p:cNvPr>
          <p:cNvSpPr>
            <a:spLocks noGrp="1"/>
          </p:cNvSpPr>
          <p:nvPr>
            <p:ph type="title"/>
          </p:nvPr>
        </p:nvSpPr>
        <p:spPr>
          <a:xfrm>
            <a:off x="612648" y="548640"/>
            <a:ext cx="10653578" cy="719721"/>
          </a:xfrm>
        </p:spPr>
        <p:txBody>
          <a:bodyPr/>
          <a:lstStyle/>
          <a:p>
            <a:pPr algn="ctr"/>
            <a:r>
              <a:rPr lang="en-US" dirty="0"/>
              <a:t>MICROSOFT ACCESS </a:t>
            </a:r>
            <a:r>
              <a:rPr lang="en-US" sz="2400" dirty="0"/>
              <a:t>[ DESKTOP DATABASE]</a:t>
            </a:r>
          </a:p>
        </p:txBody>
      </p:sp>
      <p:graphicFrame>
        <p:nvGraphicFramePr>
          <p:cNvPr id="10" name="Content Placeholder 9">
            <a:extLst>
              <a:ext uri="{FF2B5EF4-FFF2-40B4-BE49-F238E27FC236}">
                <a16:creationId xmlns:a16="http://schemas.microsoft.com/office/drawing/2014/main" id="{5E6DE5B0-8E8B-45D9-D715-394D65761C5B}"/>
              </a:ext>
            </a:extLst>
          </p:cNvPr>
          <p:cNvGraphicFramePr>
            <a:graphicFrameLocks noGrp="1"/>
          </p:cNvGraphicFramePr>
          <p:nvPr>
            <p:ph idx="1"/>
            <p:extLst>
              <p:ext uri="{D42A27DB-BD31-4B8C-83A1-F6EECF244321}">
                <p14:modId xmlns:p14="http://schemas.microsoft.com/office/powerpoint/2010/main" val="2485482394"/>
              </p:ext>
            </p:extLst>
          </p:nvPr>
        </p:nvGraphicFramePr>
        <p:xfrm>
          <a:off x="1015898" y="1155650"/>
          <a:ext cx="9632438" cy="5619748"/>
        </p:xfrm>
        <a:graphic>
          <a:graphicData uri="http://schemas.openxmlformats.org/drawingml/2006/table">
            <a:tbl>
              <a:tblPr firstRow="1" bandRow="1">
                <a:tableStyleId>{5C22544A-7EE6-4342-B048-85BDC9FD1C3A}</a:tableStyleId>
              </a:tblPr>
              <a:tblGrid>
                <a:gridCol w="4816219">
                  <a:extLst>
                    <a:ext uri="{9D8B030D-6E8A-4147-A177-3AD203B41FA5}">
                      <a16:colId xmlns:a16="http://schemas.microsoft.com/office/drawing/2014/main" val="1290894244"/>
                    </a:ext>
                  </a:extLst>
                </a:gridCol>
                <a:gridCol w="4816219">
                  <a:extLst>
                    <a:ext uri="{9D8B030D-6E8A-4147-A177-3AD203B41FA5}">
                      <a16:colId xmlns:a16="http://schemas.microsoft.com/office/drawing/2014/main" val="1471257944"/>
                    </a:ext>
                  </a:extLst>
                </a:gridCol>
              </a:tblGrid>
              <a:tr h="499108">
                <a:tc>
                  <a:txBody>
                    <a:bodyPr/>
                    <a:lstStyle/>
                    <a:p>
                      <a:r>
                        <a:rPr lang="en-US" dirty="0"/>
                        <a:t>PROS</a:t>
                      </a:r>
                    </a:p>
                  </a:txBody>
                  <a:tcPr/>
                </a:tc>
                <a:tc>
                  <a:txBody>
                    <a:bodyPr/>
                    <a:lstStyle/>
                    <a:p>
                      <a:r>
                        <a:rPr lang="en-US" dirty="0"/>
                        <a:t>CONS</a:t>
                      </a:r>
                    </a:p>
                  </a:txBody>
                  <a:tcPr/>
                </a:tc>
                <a:extLst>
                  <a:ext uri="{0D108BD9-81ED-4DB2-BD59-A6C34878D82A}">
                    <a16:rowId xmlns:a16="http://schemas.microsoft.com/office/drawing/2014/main" val="2946393597"/>
                  </a:ext>
                </a:extLst>
              </a:tr>
              <a:tr h="728517">
                <a:tc>
                  <a:txBody>
                    <a:bodyPr/>
                    <a:lstStyle/>
                    <a:p>
                      <a:r>
                        <a:rPr lang="en-US" sz="1800" b="1" kern="1200" dirty="0">
                          <a:solidFill>
                            <a:schemeClr val="dk1"/>
                          </a:solidFill>
                          <a:effectLst/>
                          <a:latin typeface="+mn-lt"/>
                          <a:ea typeface="+mn-ea"/>
                          <a:cs typeface="+mn-cs"/>
                        </a:rPr>
                        <a:t>Easy to set up</a:t>
                      </a:r>
                      <a:r>
                        <a:rPr lang="en-US" sz="1800" kern="1200" dirty="0">
                          <a:solidFill>
                            <a:schemeClr val="dk1"/>
                          </a:solidFill>
                          <a:effectLst/>
                          <a:latin typeface="+mn-lt"/>
                          <a:ea typeface="+mn-ea"/>
                          <a:cs typeface="+mn-cs"/>
                        </a:rPr>
                        <a:t> : tables, forms, queries, and reports all in one place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Not scalable:</a:t>
                      </a:r>
                      <a:r>
                        <a:rPr lang="en-US" sz="1800" kern="1200" dirty="0">
                          <a:solidFill>
                            <a:schemeClr val="dk1"/>
                          </a:solidFill>
                          <a:effectLst/>
                          <a:latin typeface="+mn-lt"/>
                          <a:ea typeface="+mn-ea"/>
                          <a:cs typeface="+mn-cs"/>
                        </a:rPr>
                        <a:t> Performance slows down with large datasets or multiple users.</a:t>
                      </a:r>
                    </a:p>
                    <a:p>
                      <a:endParaRPr lang="en-US" dirty="0"/>
                    </a:p>
                  </a:txBody>
                  <a:tcPr/>
                </a:tc>
                <a:extLst>
                  <a:ext uri="{0D108BD9-81ED-4DB2-BD59-A6C34878D82A}">
                    <a16:rowId xmlns:a16="http://schemas.microsoft.com/office/drawing/2014/main" val="3535151706"/>
                  </a:ext>
                </a:extLst>
              </a:tr>
              <a:tr h="9470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Good for local storage:</a:t>
                      </a:r>
                      <a:r>
                        <a:rPr lang="en-US" sz="1800" kern="1200" dirty="0">
                          <a:solidFill>
                            <a:schemeClr val="dk1"/>
                          </a:solidFill>
                          <a:effectLst/>
                          <a:latin typeface="+mn-lt"/>
                          <a:ea typeface="+mn-ea"/>
                          <a:cs typeface="+mn-cs"/>
                        </a:rPr>
                        <a:t> Everything is on your computer — no internet required.</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Limited collaboration:</a:t>
                      </a:r>
                      <a:r>
                        <a:rPr lang="en-US" sz="1800" kern="1200" dirty="0">
                          <a:solidFill>
                            <a:schemeClr val="dk1"/>
                          </a:solidFill>
                          <a:effectLst/>
                          <a:latin typeface="+mn-lt"/>
                          <a:ea typeface="+mn-ea"/>
                          <a:cs typeface="+mn-cs"/>
                        </a:rPr>
                        <a:t> Difficult for multiple users to access simultaneously; requires shared network or splitting database.</a:t>
                      </a:r>
                    </a:p>
                    <a:p>
                      <a:endParaRPr lang="en-US" dirty="0"/>
                    </a:p>
                  </a:txBody>
                  <a:tcPr/>
                </a:tc>
                <a:extLst>
                  <a:ext uri="{0D108BD9-81ED-4DB2-BD59-A6C34878D82A}">
                    <a16:rowId xmlns:a16="http://schemas.microsoft.com/office/drawing/2014/main" val="4130425430"/>
                  </a:ext>
                </a:extLst>
              </a:tr>
              <a:tr h="728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Rapid prototyping:</a:t>
                      </a:r>
                      <a:r>
                        <a:rPr lang="en-US" sz="1800" kern="1200" dirty="0">
                          <a:solidFill>
                            <a:schemeClr val="dk1"/>
                          </a:solidFill>
                          <a:effectLst/>
                          <a:latin typeface="+mn-lt"/>
                          <a:ea typeface="+mn-ea"/>
                          <a:cs typeface="+mn-cs"/>
                        </a:rPr>
                        <a:t> You can quickly create forms, queries, and reports.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Not web-based:</a:t>
                      </a:r>
                      <a:r>
                        <a:rPr lang="en-US" sz="1800" kern="1200" dirty="0">
                          <a:solidFill>
                            <a:schemeClr val="dk1"/>
                          </a:solidFill>
                          <a:effectLst/>
                          <a:latin typeface="+mn-lt"/>
                          <a:ea typeface="+mn-ea"/>
                          <a:cs typeface="+mn-cs"/>
                        </a:rPr>
                        <a:t> Cannot easily access via browser or mobile apps.</a:t>
                      </a:r>
                    </a:p>
                    <a:p>
                      <a:endParaRPr lang="en-US" dirty="0"/>
                    </a:p>
                  </a:txBody>
                  <a:tcPr/>
                </a:tc>
                <a:extLst>
                  <a:ext uri="{0D108BD9-81ED-4DB2-BD59-A6C34878D82A}">
                    <a16:rowId xmlns:a16="http://schemas.microsoft.com/office/drawing/2014/main" val="1028982500"/>
                  </a:ext>
                </a:extLst>
              </a:tr>
              <a:tr h="728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Simple data entry:</a:t>
                      </a:r>
                      <a:r>
                        <a:rPr lang="en-US" sz="1800" kern="1200" dirty="0">
                          <a:solidFill>
                            <a:schemeClr val="dk1"/>
                          </a:solidFill>
                          <a:effectLst/>
                          <a:latin typeface="+mn-lt"/>
                          <a:ea typeface="+mn-ea"/>
                          <a:cs typeface="+mn-cs"/>
                        </a:rPr>
                        <a:t> User-friendly forms for inputting data.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Limited security:</a:t>
                      </a:r>
                      <a:r>
                        <a:rPr lang="en-US" sz="1800" kern="1200" dirty="0">
                          <a:solidFill>
                            <a:schemeClr val="dk1"/>
                          </a:solidFill>
                          <a:effectLst/>
                          <a:latin typeface="+mn-lt"/>
                          <a:ea typeface="+mn-ea"/>
                          <a:cs typeface="+mn-cs"/>
                        </a:rPr>
                        <a:t> Only basic user-level security; not suitable for sensitive business data.</a:t>
                      </a:r>
                    </a:p>
                    <a:p>
                      <a:endParaRPr lang="en-US" dirty="0"/>
                    </a:p>
                  </a:txBody>
                  <a:tcPr/>
                </a:tc>
                <a:extLst>
                  <a:ext uri="{0D108BD9-81ED-4DB2-BD59-A6C34878D82A}">
                    <a16:rowId xmlns:a16="http://schemas.microsoft.com/office/drawing/2014/main" val="2952915938"/>
                  </a:ext>
                </a:extLst>
              </a:tr>
              <a:tr h="728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Cost-effective:</a:t>
                      </a:r>
                      <a:r>
                        <a:rPr lang="en-US" sz="1800" kern="1200" dirty="0">
                          <a:solidFill>
                            <a:schemeClr val="dk1"/>
                          </a:solidFill>
                          <a:effectLst/>
                          <a:latin typeface="+mn-lt"/>
                          <a:ea typeface="+mn-ea"/>
                          <a:cs typeface="+mn-cs"/>
                        </a:rPr>
                        <a:t> Often included in Office 365 or cheaper than enterprise solutions.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Manual integration:</a:t>
                      </a:r>
                      <a:r>
                        <a:rPr lang="en-US" sz="1800" kern="1200" dirty="0">
                          <a:solidFill>
                            <a:schemeClr val="dk1"/>
                          </a:solidFill>
                          <a:effectLst/>
                          <a:latin typeface="+mn-lt"/>
                          <a:ea typeface="+mn-ea"/>
                          <a:cs typeface="+mn-cs"/>
                        </a:rPr>
                        <a:t> Hard to connect with other systems automatically.</a:t>
                      </a:r>
                    </a:p>
                    <a:p>
                      <a:endParaRPr lang="en-US" dirty="0"/>
                    </a:p>
                  </a:txBody>
                  <a:tcPr/>
                </a:tc>
                <a:extLst>
                  <a:ext uri="{0D108BD9-81ED-4DB2-BD59-A6C34878D82A}">
                    <a16:rowId xmlns:a16="http://schemas.microsoft.com/office/drawing/2014/main" val="2132559924"/>
                  </a:ext>
                </a:extLst>
              </a:tr>
            </a:tbl>
          </a:graphicData>
        </a:graphic>
      </p:graphicFrame>
    </p:spTree>
    <p:extLst>
      <p:ext uri="{BB962C8B-B14F-4D97-AF65-F5344CB8AC3E}">
        <p14:creationId xmlns:p14="http://schemas.microsoft.com/office/powerpoint/2010/main" val="3661422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5113217-069D-F6D4-FE3D-4D6994133C5A}"/>
              </a:ext>
            </a:extLst>
          </p:cNvPr>
          <p:cNvSpPr>
            <a:spLocks noGrp="1"/>
          </p:cNvSpPr>
          <p:nvPr>
            <p:ph type="title"/>
          </p:nvPr>
        </p:nvSpPr>
        <p:spPr>
          <a:xfrm>
            <a:off x="494661" y="224176"/>
            <a:ext cx="10653578" cy="719721"/>
          </a:xfrm>
        </p:spPr>
        <p:txBody>
          <a:bodyPr/>
          <a:lstStyle/>
          <a:p>
            <a:pPr algn="ctr"/>
            <a:r>
              <a:rPr lang="en-US" dirty="0"/>
              <a:t>SALESFORCE </a:t>
            </a:r>
            <a:r>
              <a:rPr lang="en-US" sz="2000" dirty="0"/>
              <a:t>(CLOUD CRM / DATABASE)</a:t>
            </a:r>
          </a:p>
        </p:txBody>
      </p:sp>
      <p:graphicFrame>
        <p:nvGraphicFramePr>
          <p:cNvPr id="5" name="Table 4">
            <a:extLst>
              <a:ext uri="{FF2B5EF4-FFF2-40B4-BE49-F238E27FC236}">
                <a16:creationId xmlns:a16="http://schemas.microsoft.com/office/drawing/2014/main" id="{FBD29B0B-9A26-FEA7-92ED-734891BC8450}"/>
              </a:ext>
            </a:extLst>
          </p:cNvPr>
          <p:cNvGraphicFramePr>
            <a:graphicFrameLocks noGrp="1"/>
          </p:cNvGraphicFramePr>
          <p:nvPr>
            <p:extLst>
              <p:ext uri="{D42A27DB-BD31-4B8C-83A1-F6EECF244321}">
                <p14:modId xmlns:p14="http://schemas.microsoft.com/office/powerpoint/2010/main" val="1544535666"/>
              </p:ext>
            </p:extLst>
          </p:nvPr>
        </p:nvGraphicFramePr>
        <p:xfrm>
          <a:off x="1012723" y="922129"/>
          <a:ext cx="10135516" cy="5711695"/>
        </p:xfrm>
        <a:graphic>
          <a:graphicData uri="http://schemas.openxmlformats.org/drawingml/2006/table">
            <a:tbl>
              <a:tblPr firstRow="1" bandRow="1">
                <a:tableStyleId>{5C22544A-7EE6-4342-B048-85BDC9FD1C3A}</a:tableStyleId>
              </a:tblPr>
              <a:tblGrid>
                <a:gridCol w="5067758">
                  <a:extLst>
                    <a:ext uri="{9D8B030D-6E8A-4147-A177-3AD203B41FA5}">
                      <a16:colId xmlns:a16="http://schemas.microsoft.com/office/drawing/2014/main" val="3352379028"/>
                    </a:ext>
                  </a:extLst>
                </a:gridCol>
                <a:gridCol w="5067758">
                  <a:extLst>
                    <a:ext uri="{9D8B030D-6E8A-4147-A177-3AD203B41FA5}">
                      <a16:colId xmlns:a16="http://schemas.microsoft.com/office/drawing/2014/main" val="3957645141"/>
                    </a:ext>
                  </a:extLst>
                </a:gridCol>
              </a:tblGrid>
              <a:tr h="591055">
                <a:tc>
                  <a:txBody>
                    <a:bodyPr/>
                    <a:lstStyle/>
                    <a:p>
                      <a:r>
                        <a:rPr lang="en-US" dirty="0"/>
                        <a:t>PROS</a:t>
                      </a:r>
                    </a:p>
                  </a:txBody>
                  <a:tcPr/>
                </a:tc>
                <a:tc>
                  <a:txBody>
                    <a:bodyPr/>
                    <a:lstStyle/>
                    <a:p>
                      <a:r>
                        <a:rPr lang="en-US" dirty="0"/>
                        <a:t>CONS</a:t>
                      </a:r>
                    </a:p>
                  </a:txBody>
                  <a:tcPr/>
                </a:tc>
                <a:extLst>
                  <a:ext uri="{0D108BD9-81ED-4DB2-BD59-A6C34878D82A}">
                    <a16:rowId xmlns:a16="http://schemas.microsoft.com/office/drawing/2014/main" val="324977700"/>
                  </a:ext>
                </a:extLst>
              </a:tr>
              <a:tr h="11229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Cloud-based:&amp; </a:t>
                      </a:r>
                      <a:r>
                        <a:rPr lang="en-US" sz="1800" kern="1200" dirty="0">
                          <a:solidFill>
                            <a:schemeClr val="dk1"/>
                          </a:solidFill>
                          <a:effectLst/>
                          <a:latin typeface="+mn-lt"/>
                          <a:ea typeface="+mn-ea"/>
                          <a:cs typeface="+mn-cs"/>
                        </a:rPr>
                        <a:t>Accessible anywhere, anytime, via browser or mobile.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Multi-user collaboration:</a:t>
                      </a:r>
                      <a:r>
                        <a:rPr lang="en-US" sz="1800" kern="1200" dirty="0">
                          <a:solidFill>
                            <a:schemeClr val="dk1"/>
                          </a:solidFill>
                          <a:effectLst/>
                          <a:latin typeface="+mn-lt"/>
                          <a:ea typeface="+mn-ea"/>
                          <a:cs typeface="+mn-cs"/>
                        </a:rPr>
                        <a:t> Multiple users can access, update, and share data simultaneously.</a:t>
                      </a:r>
                    </a:p>
                  </a:txBody>
                  <a:tcPr/>
                </a:tc>
                <a:tc>
                  <a:txBody>
                    <a:bodyPr/>
                    <a:lstStyle/>
                    <a:p>
                      <a:r>
                        <a:rPr lang="en-US" sz="1800" b="1" kern="1200" dirty="0">
                          <a:solidFill>
                            <a:schemeClr val="dk1"/>
                          </a:solidFill>
                          <a:effectLst/>
                          <a:latin typeface="+mn-lt"/>
                          <a:ea typeface="+mn-ea"/>
                          <a:cs typeface="+mn-cs"/>
                        </a:rPr>
                        <a:t>Learning curve:</a:t>
                      </a:r>
                      <a:r>
                        <a:rPr lang="en-US" sz="1800" kern="1200" dirty="0">
                          <a:solidFill>
                            <a:schemeClr val="dk1"/>
                          </a:solidFill>
                          <a:effectLst/>
                          <a:latin typeface="+mn-lt"/>
                          <a:ea typeface="+mn-ea"/>
                          <a:cs typeface="+mn-cs"/>
                        </a:rPr>
                        <a:t> Slightly more complex than Access; needs understanding of objects, fields, report types, and </a:t>
                      </a:r>
                      <a:r>
                        <a:rPr lang="en-US" sz="1800" kern="1200" dirty="0" err="1">
                          <a:solidFill>
                            <a:schemeClr val="dk1"/>
                          </a:solidFill>
                          <a:effectLst/>
                          <a:latin typeface="+mn-lt"/>
                          <a:ea typeface="+mn-ea"/>
                          <a:cs typeface="+mn-cs"/>
                        </a:rPr>
                        <a:t>relationshipS</a:t>
                      </a:r>
                      <a:r>
                        <a:rPr lang="en-US" sz="180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1882579501"/>
                  </a:ext>
                </a:extLst>
              </a:tr>
              <a:tr h="7791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Built-in reporting &amp; dashboards:</a:t>
                      </a:r>
                      <a:r>
                        <a:rPr lang="en-US" sz="1800" kern="1200" dirty="0">
                          <a:solidFill>
                            <a:schemeClr val="dk1"/>
                          </a:solidFill>
                          <a:effectLst/>
                          <a:latin typeface="+mn-lt"/>
                          <a:ea typeface="+mn-ea"/>
                          <a:cs typeface="+mn-cs"/>
                        </a:rPr>
                        <a:t> Real-time visualization of data (charts, metrics, tables).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Internet required:</a:t>
                      </a:r>
                      <a:r>
                        <a:rPr lang="en-US" sz="1800" kern="1200" dirty="0">
                          <a:solidFill>
                            <a:schemeClr val="dk1"/>
                          </a:solidFill>
                          <a:effectLst/>
                          <a:latin typeface="+mn-lt"/>
                          <a:ea typeface="+mn-ea"/>
                          <a:cs typeface="+mn-cs"/>
                        </a:rPr>
                        <a:t> Cannot work offline easily (except with some mobile caching).</a:t>
                      </a:r>
                    </a:p>
                    <a:p>
                      <a:endParaRPr lang="en-US" dirty="0"/>
                    </a:p>
                  </a:txBody>
                  <a:tcPr/>
                </a:tc>
                <a:extLst>
                  <a:ext uri="{0D108BD9-81ED-4DB2-BD59-A6C34878D82A}">
                    <a16:rowId xmlns:a16="http://schemas.microsoft.com/office/drawing/2014/main" val="3650104089"/>
                  </a:ext>
                </a:extLst>
              </a:tr>
              <a:tr h="10128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Security &amp; permissions:</a:t>
                      </a:r>
                      <a:r>
                        <a:rPr lang="en-US" sz="1800" kern="1200" dirty="0">
                          <a:solidFill>
                            <a:schemeClr val="dk1"/>
                          </a:solidFill>
                          <a:effectLst/>
                          <a:latin typeface="+mn-lt"/>
                          <a:ea typeface="+mn-ea"/>
                          <a:cs typeface="+mn-cs"/>
                        </a:rPr>
                        <a:t> Granular control over who can view/edit data (profiles, roles, sharing rules).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Cost:</a:t>
                      </a:r>
                      <a:r>
                        <a:rPr lang="en-US" sz="1800" kern="1200" dirty="0">
                          <a:solidFill>
                            <a:schemeClr val="dk1"/>
                          </a:solidFill>
                          <a:effectLst/>
                          <a:latin typeface="+mn-lt"/>
                          <a:ea typeface="+mn-ea"/>
                          <a:cs typeface="+mn-cs"/>
                        </a:rPr>
                        <a:t> Salesforce licenses can be expensive for full access.</a:t>
                      </a:r>
                    </a:p>
                    <a:p>
                      <a:endParaRPr lang="en-US" dirty="0"/>
                    </a:p>
                  </a:txBody>
                  <a:tcPr/>
                </a:tc>
                <a:extLst>
                  <a:ext uri="{0D108BD9-81ED-4DB2-BD59-A6C34878D82A}">
                    <a16:rowId xmlns:a16="http://schemas.microsoft.com/office/drawing/2014/main" val="2908485846"/>
                  </a:ext>
                </a:extLst>
              </a:tr>
              <a:tr h="5910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Automation &amp; workflow:</a:t>
                      </a:r>
                      <a:r>
                        <a:rPr lang="en-US" sz="1800" kern="1200" dirty="0">
                          <a:solidFill>
                            <a:schemeClr val="dk1"/>
                          </a:solidFill>
                          <a:effectLst/>
                          <a:latin typeface="+mn-lt"/>
                          <a:ea typeface="+mn-ea"/>
                          <a:cs typeface="+mn-cs"/>
                        </a:rPr>
                        <a:t> Can automate notifications, emails, and approvals.</a:t>
                      </a:r>
                    </a:p>
                  </a:txBody>
                  <a:tcPr/>
                </a:tc>
                <a:tc>
                  <a:txBody>
                    <a:bodyPr/>
                    <a:lstStyle/>
                    <a:p>
                      <a:r>
                        <a:rPr lang="en-US" sz="1800" b="1" kern="1200" dirty="0">
                          <a:solidFill>
                            <a:schemeClr val="dk1"/>
                          </a:solidFill>
                          <a:effectLst/>
                          <a:latin typeface="+mn-lt"/>
                          <a:ea typeface="+mn-ea"/>
                          <a:cs typeface="+mn-cs"/>
                        </a:rPr>
                        <a:t>Setup overhead:</a:t>
                      </a:r>
                      <a:r>
                        <a:rPr lang="en-US" sz="1800" kern="1200" dirty="0">
                          <a:solidFill>
                            <a:schemeClr val="dk1"/>
                          </a:solidFill>
                          <a:effectLst/>
                          <a:latin typeface="+mn-lt"/>
                          <a:ea typeface="+mn-ea"/>
                          <a:cs typeface="+mn-cs"/>
                        </a:rPr>
                        <a:t> Initial setup requires planning for objects, relationships, and permissions.</a:t>
                      </a:r>
                      <a:endParaRPr lang="en-US" dirty="0"/>
                    </a:p>
                  </a:txBody>
                  <a:tcPr/>
                </a:tc>
                <a:extLst>
                  <a:ext uri="{0D108BD9-81ED-4DB2-BD59-A6C34878D82A}">
                    <a16:rowId xmlns:a16="http://schemas.microsoft.com/office/drawing/2014/main" val="3590000372"/>
                  </a:ext>
                </a:extLst>
              </a:tr>
              <a:tr h="591055">
                <a:tc>
                  <a:txBody>
                    <a:bodyPr/>
                    <a:lstStyle/>
                    <a:p>
                      <a:r>
                        <a:rPr lang="en-US" sz="1800" b="1" kern="1200" dirty="0">
                          <a:solidFill>
                            <a:schemeClr val="dk1"/>
                          </a:solidFill>
                          <a:effectLst/>
                          <a:latin typeface="+mn-lt"/>
                          <a:ea typeface="+mn-ea"/>
                          <a:cs typeface="+mn-cs"/>
                        </a:rPr>
                        <a:t>Integration-ready: Scalable:</a:t>
                      </a:r>
                      <a:r>
                        <a:rPr lang="en-US" sz="1800" kern="1200" dirty="0">
                          <a:solidFill>
                            <a:schemeClr val="dk1"/>
                          </a:solidFill>
                          <a:effectLst/>
                          <a:latin typeface="+mn-lt"/>
                          <a:ea typeface="+mn-ea"/>
                          <a:cs typeface="+mn-cs"/>
                        </a:rPr>
                        <a:t> Handles large datasets and enterprise-level usage</a:t>
                      </a:r>
                      <a:endParaRPr lang="en-US" dirty="0"/>
                    </a:p>
                  </a:txBody>
                  <a:tcPr/>
                </a:tc>
                <a:tc>
                  <a:txBody>
                    <a:bodyPr/>
                    <a:lstStyle/>
                    <a:p>
                      <a:r>
                        <a:rPr lang="en-US" sz="1800" b="1" kern="1200" dirty="0">
                          <a:solidFill>
                            <a:schemeClr val="dk1"/>
                          </a:solidFill>
                          <a:effectLst/>
                          <a:latin typeface="+mn-lt"/>
                          <a:ea typeface="+mn-ea"/>
                          <a:cs typeface="+mn-cs"/>
                        </a:rPr>
                        <a:t>Internet Dependent:</a:t>
                      </a:r>
                      <a:r>
                        <a:rPr lang="en-US" sz="1800" kern="1200" dirty="0">
                          <a:solidFill>
                            <a:schemeClr val="dk1"/>
                          </a:solidFill>
                          <a:effectLst/>
                          <a:latin typeface="+mn-lt"/>
                          <a:ea typeface="+mn-ea"/>
                          <a:cs typeface="+mn-cs"/>
                        </a:rPr>
                        <a:t> Requires Internet all the time. </a:t>
                      </a:r>
                      <a:endParaRPr lang="en-US" dirty="0"/>
                    </a:p>
                  </a:txBody>
                  <a:tcPr/>
                </a:tc>
                <a:extLst>
                  <a:ext uri="{0D108BD9-81ED-4DB2-BD59-A6C34878D82A}">
                    <a16:rowId xmlns:a16="http://schemas.microsoft.com/office/drawing/2014/main" val="1301271528"/>
                  </a:ext>
                </a:extLst>
              </a:tr>
            </a:tbl>
          </a:graphicData>
        </a:graphic>
      </p:graphicFrame>
    </p:spTree>
    <p:extLst>
      <p:ext uri="{BB962C8B-B14F-4D97-AF65-F5344CB8AC3E}">
        <p14:creationId xmlns:p14="http://schemas.microsoft.com/office/powerpoint/2010/main" val="3563114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8763D-3581-F34A-3BE2-63C05FD9E20D}"/>
              </a:ext>
            </a:extLst>
          </p:cNvPr>
          <p:cNvSpPr>
            <a:spLocks noGrp="1"/>
          </p:cNvSpPr>
          <p:nvPr>
            <p:ph type="title"/>
          </p:nvPr>
        </p:nvSpPr>
        <p:spPr>
          <a:xfrm>
            <a:off x="612648" y="548640"/>
            <a:ext cx="10653578" cy="611566"/>
          </a:xfrm>
        </p:spPr>
        <p:txBody>
          <a:bodyPr>
            <a:normAutofit/>
          </a:bodyPr>
          <a:lstStyle/>
          <a:p>
            <a:pPr algn="ctr"/>
            <a:r>
              <a:rPr lang="en-US" sz="2200" dirty="0"/>
              <a:t>FUTURE ENHANCEMENTS FOR THE SHAMPOODLE SALESFORCE APP</a:t>
            </a:r>
          </a:p>
        </p:txBody>
      </p:sp>
      <p:sp>
        <p:nvSpPr>
          <p:cNvPr id="3" name="Content Placeholder 2">
            <a:extLst>
              <a:ext uri="{FF2B5EF4-FFF2-40B4-BE49-F238E27FC236}">
                <a16:creationId xmlns:a16="http://schemas.microsoft.com/office/drawing/2014/main" id="{739915F9-ED07-F1E3-AA87-4B07FD399DFA}"/>
              </a:ext>
            </a:extLst>
          </p:cNvPr>
          <p:cNvSpPr>
            <a:spLocks noGrp="1"/>
          </p:cNvSpPr>
          <p:nvPr>
            <p:ph idx="1"/>
          </p:nvPr>
        </p:nvSpPr>
        <p:spPr/>
        <p:txBody>
          <a:bodyPr>
            <a:normAutofit/>
          </a:bodyPr>
          <a:lstStyle/>
          <a:p>
            <a:pPr marL="0" indent="0">
              <a:buNone/>
            </a:pPr>
            <a:r>
              <a:rPr lang="en-US" dirty="0"/>
              <a:t>In the future, the </a:t>
            </a:r>
            <a:r>
              <a:rPr lang="en-US" dirty="0" err="1"/>
              <a:t>Shampoodle</a:t>
            </a:r>
            <a:r>
              <a:rPr lang="en-US" dirty="0"/>
              <a:t> Salesforce app can be enhanced to make appointment and service management more efficient and automated. For example, it could include automated notifications for upcoming appointments to customers, or reminders for groomers about their daily schedule. Service recommendations based on a dog’s breed, age, or grooming history could also be added to help customers select the right services.</a:t>
            </a:r>
          </a:p>
          <a:p>
            <a:pPr marL="0" indent="0">
              <a:buNone/>
            </a:pPr>
            <a:r>
              <a:rPr lang="en-US" dirty="0"/>
              <a:t>Additionally, integrating mobile access would allow groomers to update appointments, record completed services, or add notes directly on the go. The dashboards can be enhanced to provide analytics insights, such as identifying peak service times, revenue per groomer, or tracking the most popular services. These enhancements would make the Salesforce app a more interactive, smart, and practical tool for managing </a:t>
            </a:r>
            <a:r>
              <a:rPr lang="en-US" dirty="0" err="1"/>
              <a:t>Shampoodle’s</a:t>
            </a:r>
            <a:r>
              <a:rPr lang="en-US" dirty="0"/>
              <a:t> Dog grooming operations.</a:t>
            </a:r>
          </a:p>
          <a:p>
            <a:pPr marL="0" indent="0">
              <a:buNone/>
            </a:pPr>
            <a:endParaRPr lang="en-US" dirty="0"/>
          </a:p>
        </p:txBody>
      </p:sp>
    </p:spTree>
    <p:extLst>
      <p:ext uri="{BB962C8B-B14F-4D97-AF65-F5344CB8AC3E}">
        <p14:creationId xmlns:p14="http://schemas.microsoft.com/office/powerpoint/2010/main" val="1674775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B0170-29AE-1FED-6607-06A42168A8B0}"/>
              </a:ext>
            </a:extLst>
          </p:cNvPr>
          <p:cNvSpPr>
            <a:spLocks noGrp="1"/>
          </p:cNvSpPr>
          <p:nvPr>
            <p:ph type="title"/>
          </p:nvPr>
        </p:nvSpPr>
        <p:spPr>
          <a:xfrm>
            <a:off x="612648" y="224175"/>
            <a:ext cx="10653578" cy="542741"/>
          </a:xfrm>
        </p:spPr>
        <p:txBody>
          <a:bodyPr>
            <a:normAutofit/>
          </a:bodyPr>
          <a:lstStyle/>
          <a:p>
            <a:pPr algn="ctr"/>
            <a:r>
              <a:rPr lang="en-US" sz="2800" dirty="0"/>
              <a:t>OVERVIEW OF REPORTS</a:t>
            </a:r>
          </a:p>
        </p:txBody>
      </p:sp>
      <p:pic>
        <p:nvPicPr>
          <p:cNvPr id="1026" name="Picture 2">
            <a:extLst>
              <a:ext uri="{FF2B5EF4-FFF2-40B4-BE49-F238E27FC236}">
                <a16:creationId xmlns:a16="http://schemas.microsoft.com/office/drawing/2014/main" id="{DFD28D93-0832-47B3-8F29-091BE19190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976" y="983227"/>
            <a:ext cx="10718805" cy="489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1419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6E652-7766-EE63-5B6D-26D1915072A2}"/>
              </a:ext>
            </a:extLst>
          </p:cNvPr>
          <p:cNvSpPr>
            <a:spLocks noGrp="1"/>
          </p:cNvSpPr>
          <p:nvPr>
            <p:ph type="title"/>
          </p:nvPr>
        </p:nvSpPr>
        <p:spPr/>
        <p:txBody>
          <a:bodyPr>
            <a:normAutofit/>
          </a:bodyPr>
          <a:lstStyle/>
          <a:p>
            <a:r>
              <a:rPr lang="en-US" sz="1800" dirty="0"/>
              <a:t>SCREENSHOTS OF REPORTS WITH DESCRIPTION , HOW THEY CAN SUPPORT BUSINESS</a:t>
            </a:r>
            <a:br>
              <a:rPr lang="en-US" sz="1800" dirty="0"/>
            </a:br>
            <a:r>
              <a:rPr lang="en-US" sz="1800" dirty="0" err="1"/>
              <a:t>Appointment_Amount_ServiceType</a:t>
            </a:r>
            <a:r>
              <a:rPr lang="en-US" sz="1800" dirty="0"/>
              <a:t> - report</a:t>
            </a:r>
          </a:p>
        </p:txBody>
      </p:sp>
      <p:pic>
        <p:nvPicPr>
          <p:cNvPr id="2050" name="Picture 2">
            <a:extLst>
              <a:ext uri="{FF2B5EF4-FFF2-40B4-BE49-F238E27FC236}">
                <a16:creationId xmlns:a16="http://schemas.microsoft.com/office/drawing/2014/main" id="{9761479B-55E1-F240-BD52-69839D4B7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912" y="1196397"/>
            <a:ext cx="11718175" cy="5547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523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3F28-8FA3-A3CA-5799-F9E255A358C0}"/>
              </a:ext>
            </a:extLst>
          </p:cNvPr>
          <p:cNvSpPr>
            <a:spLocks noGrp="1"/>
          </p:cNvSpPr>
          <p:nvPr>
            <p:ph type="title"/>
          </p:nvPr>
        </p:nvSpPr>
        <p:spPr/>
        <p:txBody>
          <a:bodyPr/>
          <a:lstStyle/>
          <a:p>
            <a:r>
              <a:rPr lang="en-US" dirty="0" err="1"/>
              <a:t>Appointment_Amount_ServiceType</a:t>
            </a:r>
            <a:endParaRPr lang="en-US" dirty="0"/>
          </a:p>
        </p:txBody>
      </p:sp>
      <p:sp>
        <p:nvSpPr>
          <p:cNvPr id="3" name="Content Placeholder 2">
            <a:extLst>
              <a:ext uri="{FF2B5EF4-FFF2-40B4-BE49-F238E27FC236}">
                <a16:creationId xmlns:a16="http://schemas.microsoft.com/office/drawing/2014/main" id="{AD467870-C8BF-EE0E-F25B-75F327FD3D8E}"/>
              </a:ext>
            </a:extLst>
          </p:cNvPr>
          <p:cNvSpPr>
            <a:spLocks noGrp="1"/>
          </p:cNvSpPr>
          <p:nvPr>
            <p:ph idx="1"/>
          </p:nvPr>
        </p:nvSpPr>
        <p:spPr/>
        <p:txBody>
          <a:bodyPr/>
          <a:lstStyle/>
          <a:p>
            <a:r>
              <a:rPr lang="en-US" dirty="0"/>
              <a:t>This report provides a detailed view of each appointment, showing the service type and the amount charged, along with a chart visualization. Businesses can use it to analyze revenue distribution across different services, identify trends in service demand, and make informed decisions on pricing, promotions, or expanding popular services. It also helps management quickly spot high-performing services and revenue opportunities.</a:t>
            </a:r>
          </a:p>
        </p:txBody>
      </p:sp>
    </p:spTree>
    <p:extLst>
      <p:ext uri="{BB962C8B-B14F-4D97-AF65-F5344CB8AC3E}">
        <p14:creationId xmlns:p14="http://schemas.microsoft.com/office/powerpoint/2010/main" val="267555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7CBA9-5AF8-44E8-C57B-06B6789B4402}"/>
              </a:ext>
            </a:extLst>
          </p:cNvPr>
          <p:cNvSpPr>
            <a:spLocks noGrp="1"/>
          </p:cNvSpPr>
          <p:nvPr>
            <p:ph type="title"/>
          </p:nvPr>
        </p:nvSpPr>
        <p:spPr/>
        <p:txBody>
          <a:bodyPr/>
          <a:lstStyle/>
          <a:p>
            <a:r>
              <a:rPr lang="en-US" dirty="0" err="1"/>
              <a:t>Service_Details</a:t>
            </a:r>
            <a:r>
              <a:rPr lang="en-US" dirty="0"/>
              <a:t>-Report</a:t>
            </a:r>
          </a:p>
        </p:txBody>
      </p:sp>
      <p:pic>
        <p:nvPicPr>
          <p:cNvPr id="3074" name="Picture 2">
            <a:extLst>
              <a:ext uri="{FF2B5EF4-FFF2-40B4-BE49-F238E27FC236}">
                <a16:creationId xmlns:a16="http://schemas.microsoft.com/office/drawing/2014/main" id="{5D8B464F-EDE1-DAE5-7D51-53EBBBCB8C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4062" y="1716088"/>
            <a:ext cx="10422163" cy="4949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8486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5F939A-3637-17E5-49BA-1051FBDDF2BD}"/>
              </a:ext>
            </a:extLst>
          </p:cNvPr>
          <p:cNvSpPr>
            <a:spLocks noGrp="1"/>
          </p:cNvSpPr>
          <p:nvPr>
            <p:ph idx="1"/>
          </p:nvPr>
        </p:nvSpPr>
        <p:spPr/>
        <p:txBody>
          <a:bodyPr/>
          <a:lstStyle/>
          <a:p>
            <a:r>
              <a:rPr lang="en-US" dirty="0"/>
              <a:t> The </a:t>
            </a:r>
            <a:r>
              <a:rPr lang="en-US" dirty="0" err="1"/>
              <a:t>Service_Details</a:t>
            </a:r>
            <a:r>
              <a:rPr lang="en-US" dirty="0"/>
              <a:t> Report lists all services provided in detail, making it valuable for auditing and ensuring accurate billing. It allows staff and management to monitor the services offered, identify underutilized or high-demand services, and make decisions about adjusting offerings</a:t>
            </a:r>
          </a:p>
        </p:txBody>
      </p:sp>
    </p:spTree>
    <p:extLst>
      <p:ext uri="{BB962C8B-B14F-4D97-AF65-F5344CB8AC3E}">
        <p14:creationId xmlns:p14="http://schemas.microsoft.com/office/powerpoint/2010/main" val="2094025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95419-F498-F1EA-3655-0C10C2C7F880}"/>
              </a:ext>
            </a:extLst>
          </p:cNvPr>
          <p:cNvSpPr>
            <a:spLocks noGrp="1"/>
          </p:cNvSpPr>
          <p:nvPr>
            <p:ph type="title"/>
          </p:nvPr>
        </p:nvSpPr>
        <p:spPr/>
        <p:txBody>
          <a:bodyPr/>
          <a:lstStyle/>
          <a:p>
            <a:r>
              <a:rPr lang="en-US"/>
              <a:t>Customer_Dogs-Report</a:t>
            </a:r>
            <a:endParaRPr lang="en-US" dirty="0"/>
          </a:p>
        </p:txBody>
      </p:sp>
      <p:pic>
        <p:nvPicPr>
          <p:cNvPr id="4098" name="Picture 2">
            <a:extLst>
              <a:ext uri="{FF2B5EF4-FFF2-40B4-BE49-F238E27FC236}">
                <a16:creationId xmlns:a16="http://schemas.microsoft.com/office/drawing/2014/main" id="{4BD8C997-A51E-15DD-61DE-D8F5855C83B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2648" y="1716088"/>
            <a:ext cx="9936907" cy="4949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100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61B83C-A211-950E-4E31-8463AB30DDFF}"/>
              </a:ext>
            </a:extLst>
          </p:cNvPr>
          <p:cNvSpPr>
            <a:spLocks noGrp="1"/>
          </p:cNvSpPr>
          <p:nvPr>
            <p:ph idx="1"/>
          </p:nvPr>
        </p:nvSpPr>
        <p:spPr/>
        <p:txBody>
          <a:bodyPr/>
          <a:lstStyle/>
          <a:p>
            <a:r>
              <a:rPr lang="en-US" dirty="0"/>
              <a:t> The </a:t>
            </a:r>
            <a:r>
              <a:rPr lang="en-US" dirty="0" err="1"/>
              <a:t>Customer_Dogs</a:t>
            </a:r>
            <a:r>
              <a:rPr lang="en-US" dirty="0"/>
              <a:t> report shows each customer along with all dogs associated with them. It helps staff quickly access pet details before appointments, improving service accuracy and personalization. From a business perspective, it is useful for tracking customer loyalty, managing repeat visits, and planning targeted marketing campaigns such as reminders for vaccinations, grooming, or special offers.</a:t>
            </a:r>
          </a:p>
          <a:p>
            <a:endParaRPr lang="en-US" dirty="0"/>
          </a:p>
        </p:txBody>
      </p:sp>
    </p:spTree>
    <p:extLst>
      <p:ext uri="{BB962C8B-B14F-4D97-AF65-F5344CB8AC3E}">
        <p14:creationId xmlns:p14="http://schemas.microsoft.com/office/powerpoint/2010/main" val="305622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31DD6-7090-647C-BA09-81911C30EEA7}"/>
              </a:ext>
            </a:extLst>
          </p:cNvPr>
          <p:cNvSpPr>
            <a:spLocks noGrp="1"/>
          </p:cNvSpPr>
          <p:nvPr>
            <p:ph type="title"/>
          </p:nvPr>
        </p:nvSpPr>
        <p:spPr/>
        <p:txBody>
          <a:bodyPr/>
          <a:lstStyle/>
          <a:p>
            <a:r>
              <a:rPr lang="en-US" dirty="0"/>
              <a:t> </a:t>
            </a:r>
            <a:r>
              <a:rPr lang="en-US" dirty="0" err="1"/>
              <a:t>Summary_Groomers_Duties</a:t>
            </a:r>
            <a:r>
              <a:rPr lang="en-US" dirty="0"/>
              <a:t>-Report</a:t>
            </a:r>
          </a:p>
        </p:txBody>
      </p:sp>
      <p:pic>
        <p:nvPicPr>
          <p:cNvPr id="5122" name="Picture 2">
            <a:extLst>
              <a:ext uri="{FF2B5EF4-FFF2-40B4-BE49-F238E27FC236}">
                <a16:creationId xmlns:a16="http://schemas.microsoft.com/office/drawing/2014/main" id="{8DD20961-29A3-4EA6-7B82-3E768F35C4E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4787" y="1716088"/>
            <a:ext cx="9344975" cy="4876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95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662FC9-373C-9B50-E3C3-16C3675580A6}"/>
              </a:ext>
            </a:extLst>
          </p:cNvPr>
          <p:cNvSpPr>
            <a:spLocks noGrp="1"/>
          </p:cNvSpPr>
          <p:nvPr>
            <p:ph idx="1"/>
          </p:nvPr>
        </p:nvSpPr>
        <p:spPr/>
        <p:txBody>
          <a:bodyPr/>
          <a:lstStyle/>
          <a:p>
            <a:r>
              <a:rPr lang="en-US" dirty="0"/>
              <a:t> This report summarizes each groomer’s duties by showing the total number of services performed per appointment. Businesses can use it to monitor staff workload, balance appointments efficiently, and evaluate performance. It also aids in scheduling decisions, ensuring no groomer is over- or under-utilized, and helps management recognize high-performing employees or areas needing support.</a:t>
            </a:r>
          </a:p>
        </p:txBody>
      </p:sp>
    </p:spTree>
    <p:extLst>
      <p:ext uri="{BB962C8B-B14F-4D97-AF65-F5344CB8AC3E}">
        <p14:creationId xmlns:p14="http://schemas.microsoft.com/office/powerpoint/2010/main" val="1962298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C8324-2D3C-3CAB-A5FD-3680A7261BB6}"/>
              </a:ext>
            </a:extLst>
          </p:cNvPr>
          <p:cNvSpPr>
            <a:spLocks noGrp="1"/>
          </p:cNvSpPr>
          <p:nvPr>
            <p:ph type="title"/>
          </p:nvPr>
        </p:nvSpPr>
        <p:spPr/>
        <p:txBody>
          <a:bodyPr/>
          <a:lstStyle/>
          <a:p>
            <a:r>
              <a:rPr lang="en-US" dirty="0"/>
              <a:t> </a:t>
            </a:r>
            <a:r>
              <a:rPr lang="en-US" dirty="0" err="1"/>
              <a:t>Customer_Appt_Dog_Summary</a:t>
            </a:r>
            <a:r>
              <a:rPr lang="en-US" dirty="0"/>
              <a:t>-Report</a:t>
            </a:r>
          </a:p>
        </p:txBody>
      </p:sp>
      <p:pic>
        <p:nvPicPr>
          <p:cNvPr id="6146" name="Picture 2">
            <a:extLst>
              <a:ext uri="{FF2B5EF4-FFF2-40B4-BE49-F238E27FC236}">
                <a16:creationId xmlns:a16="http://schemas.microsoft.com/office/drawing/2014/main" id="{23923E48-A1AB-C2E0-8760-3BC041A2CF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5632" y="1680898"/>
            <a:ext cx="8800262" cy="4592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458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2B8197-F80E-95C3-42A6-42AB48ED629F}"/>
              </a:ext>
            </a:extLst>
          </p:cNvPr>
          <p:cNvSpPr>
            <a:spLocks noGrp="1"/>
          </p:cNvSpPr>
          <p:nvPr>
            <p:ph idx="1"/>
          </p:nvPr>
        </p:nvSpPr>
        <p:spPr/>
        <p:txBody>
          <a:bodyPr/>
          <a:lstStyle/>
          <a:p>
            <a:r>
              <a:rPr lang="en-US" dirty="0"/>
              <a:t> The </a:t>
            </a:r>
            <a:r>
              <a:rPr lang="en-US" dirty="0" err="1"/>
              <a:t>Customer_Appt_Dog_Summary</a:t>
            </a:r>
            <a:r>
              <a:rPr lang="en-US" dirty="0"/>
              <a:t> report groups data by customer, showing all appointments and pets linked to each customer. This enables businesses to understand customer engagement, identify frequent clients, and anticipate service needs. It supports loyalty programs, targeted marketing, and improved customer experience by allowing staff to prepare in advance and personalize services for each customer.</a:t>
            </a:r>
          </a:p>
          <a:p>
            <a:pPr marL="0" indent="0">
              <a:buNone/>
            </a:pPr>
            <a:endParaRPr lang="en-US" dirty="0"/>
          </a:p>
        </p:txBody>
      </p:sp>
    </p:spTree>
    <p:extLst>
      <p:ext uri="{BB962C8B-B14F-4D97-AF65-F5344CB8AC3E}">
        <p14:creationId xmlns:p14="http://schemas.microsoft.com/office/powerpoint/2010/main" val="497289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8B2FA-5558-7B3A-67B6-1F9467D4D7DC}"/>
              </a:ext>
            </a:extLst>
          </p:cNvPr>
          <p:cNvSpPr>
            <a:spLocks noGrp="1"/>
          </p:cNvSpPr>
          <p:nvPr>
            <p:ph type="title"/>
          </p:nvPr>
        </p:nvSpPr>
        <p:spPr>
          <a:xfrm>
            <a:off x="612647" y="186899"/>
            <a:ext cx="10653578" cy="257605"/>
          </a:xfrm>
        </p:spPr>
        <p:txBody>
          <a:bodyPr>
            <a:noAutofit/>
          </a:bodyPr>
          <a:lstStyle/>
          <a:p>
            <a:r>
              <a:rPr lang="en-US" sz="1800" dirty="0"/>
              <a:t>Seven Solution Website _</a:t>
            </a:r>
            <a:r>
              <a:rPr lang="en-US" sz="1800" dirty="0">
                <a:hlinkClick r:id="rId2"/>
              </a:rPr>
              <a:t>https://rahil326.github.io/</a:t>
            </a:r>
            <a:r>
              <a:rPr lang="en-US" sz="1800" dirty="0" err="1">
                <a:hlinkClick r:id="rId2"/>
              </a:rPr>
              <a:t>shampoodle</a:t>
            </a:r>
            <a:r>
              <a:rPr lang="en-US" sz="1800" dirty="0">
                <a:hlinkClick r:id="rId2"/>
              </a:rPr>
              <a:t>-project/</a:t>
            </a:r>
            <a:br>
              <a:rPr lang="en-US" sz="1800" dirty="0">
                <a:hlinkClick r:id="rId2"/>
              </a:rPr>
            </a:br>
            <a:endParaRPr lang="en-US" sz="1800" dirty="0"/>
          </a:p>
        </p:txBody>
      </p:sp>
      <p:pic>
        <p:nvPicPr>
          <p:cNvPr id="5" name="Picture 4" descr="A screenshot of a computer&#10;&#10;AI-generated content may be incorrect.">
            <a:extLst>
              <a:ext uri="{FF2B5EF4-FFF2-40B4-BE49-F238E27FC236}">
                <a16:creationId xmlns:a16="http://schemas.microsoft.com/office/drawing/2014/main" id="{B26DE5F4-5E9B-4447-2D71-479D385A21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6" y="695678"/>
            <a:ext cx="11468519" cy="5770437"/>
          </a:xfrm>
          <a:prstGeom prst="rect">
            <a:avLst/>
          </a:prstGeom>
        </p:spPr>
      </p:pic>
    </p:spTree>
    <p:extLst>
      <p:ext uri="{BB962C8B-B14F-4D97-AF65-F5344CB8AC3E}">
        <p14:creationId xmlns:p14="http://schemas.microsoft.com/office/powerpoint/2010/main" val="2269911647"/>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140</TotalTime>
  <Words>871</Words>
  <Application>Microsoft Office PowerPoint</Application>
  <PresentationFormat>Widescreen</PresentationFormat>
  <Paragraphs>48</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Neue Haas Grotesk Text Pro</vt:lpstr>
      <vt:lpstr>VanillaVTI</vt:lpstr>
      <vt:lpstr>Access vs Salesforce: Database Solutions</vt:lpstr>
      <vt:lpstr>PowerPoint Presentation</vt:lpstr>
      <vt:lpstr>PowerPoint Presentation</vt:lpstr>
      <vt:lpstr>FINAL COVER PAGE _TEAM INFORMATION DATABASE- https://rahil326.github.io/shampoodle-project/ </vt:lpstr>
      <vt:lpstr>MICROSOFT ACCESS [ DESKTOP DATABASE]</vt:lpstr>
      <vt:lpstr>SALESFORCE (CLOUD CRM / DATABASE)</vt:lpstr>
      <vt:lpstr>FUTURE ENHANCEMENTS FOR THE SHAMPOODLE SALESFORCE APP</vt:lpstr>
      <vt:lpstr>OVERVIEW OF REPORTS</vt:lpstr>
      <vt:lpstr>SCREENSHOTS OF REPORTS WITH DESCRIPTION , HOW THEY CAN SUPPORT BUSINESS Appointment_Amount_ServiceType - report</vt:lpstr>
      <vt:lpstr>Appointment_Amount_ServiceType</vt:lpstr>
      <vt:lpstr>Service_Details-Report</vt:lpstr>
      <vt:lpstr>PowerPoint Presentation</vt:lpstr>
      <vt:lpstr>Customer_Dogs-Report</vt:lpstr>
      <vt:lpstr>PowerPoint Presentation</vt:lpstr>
      <vt:lpstr> Summary_Groomers_Duties-Report</vt:lpstr>
      <vt:lpstr>PowerPoint Presentation</vt:lpstr>
      <vt:lpstr> Customer_Appt_Dog_Summary-Report</vt:lpstr>
      <vt:lpstr>PowerPoint Presentation</vt:lpstr>
      <vt:lpstr>Seven Solution Website _https://rahil326.github.io/shampoodle-project/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Raheel Ahsan</dc:creator>
  <cp:lastModifiedBy>Raheel Ahsan</cp:lastModifiedBy>
  <cp:revision>5</cp:revision>
  <dcterms:created xsi:type="dcterms:W3CDTF">2025-11-30T16:23:36Z</dcterms:created>
  <dcterms:modified xsi:type="dcterms:W3CDTF">2025-11-30T20:19:43Z</dcterms:modified>
</cp:coreProperties>
</file>